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4"/>
  </p:notesMasterIdLst>
  <p:handoutMasterIdLst>
    <p:handoutMasterId r:id="rId15"/>
  </p:handoutMasterIdLst>
  <p:sldIdLst>
    <p:sldId id="278" r:id="rId5"/>
    <p:sldId id="271" r:id="rId6"/>
    <p:sldId id="288" r:id="rId7"/>
    <p:sldId id="284" r:id="rId8"/>
    <p:sldId id="286" r:id="rId9"/>
    <p:sldId id="287" r:id="rId10"/>
    <p:sldId id="293" r:id="rId11"/>
    <p:sldId id="292" r:id="rId12"/>
    <p:sldId id="29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72A307-D0AD-4235-8982-7A96AB66BD67}" v="474" dt="2026-04-08T17:25:38.394"/>
    <p1510:client id="{B866F9F7-F64E-486B-9831-63B71161EC11}" v="289" dt="2026-04-08T18:35:52.579"/>
    <p1510:client id="{BAEE0D1E-B94C-46C8-A81F-5495446E914F}" v="27" dt="2026-04-08T18:57:34.171"/>
  </p1510:revLst>
</p1510:revInfo>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7" autoAdjust="0"/>
    <p:restoredTop sz="95388" autoAdjust="0"/>
  </p:normalViewPr>
  <p:slideViewPr>
    <p:cSldViewPr snapToGrid="0">
      <p:cViewPr varScale="1">
        <p:scale>
          <a:sx n="98" d="100"/>
          <a:sy n="98" d="100"/>
        </p:scale>
        <p:origin x="54" y="678"/>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4/8/2026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4/8/2026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603191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307048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18541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5148621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5423310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8707378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5455163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00127866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7473468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2015793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7966943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806055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5885986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352056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4248338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550863" y="4045464"/>
            <a:ext cx="11115355" cy="2286000"/>
          </a:xfrm>
        </p:spPr>
        <p:txBody>
          <a:bodyPr anchor="ctr">
            <a:noAutofit/>
          </a:bodyPr>
          <a:lstStyle>
            <a:lvl1pPr algn="l">
              <a:defRPr sz="5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0" y="4594"/>
            <a:ext cx="12192000" cy="3771878"/>
          </a:xfrm>
        </p:spPr>
        <p:txBody>
          <a:bodyPr>
            <a:noAutofit/>
          </a:bodyPr>
          <a:lstStyle>
            <a:lvl1pPr marL="0" indent="0" algn="ctr">
              <a:buNone/>
              <a:defRPr sz="2000"/>
            </a:lvl1pPr>
          </a:lstStyle>
          <a:p>
            <a:r>
              <a:rPr lang="en-US" dirty="0"/>
              <a:t>Click icon to insert picture</a:t>
            </a:r>
          </a:p>
        </p:txBody>
      </p:sp>
      <p:sp>
        <p:nvSpPr>
          <p:cNvPr id="7" name="Oval 6">
            <a:extLst>
              <a:ext uri="{FF2B5EF4-FFF2-40B4-BE49-F238E27FC236}">
                <a16:creationId xmlns:a16="http://schemas.microsoft.com/office/drawing/2014/main" id="{57BF9F63-86BE-5515-AD3C-59481B3FF4B4}"/>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545384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dirty="0"/>
              <a:t>Click icon to add picture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6934700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691404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96D26C0-4AFC-33CC-99BE-317E9A844352}"/>
              </a:ext>
            </a:extLst>
          </p:cNvPr>
          <p:cNvSpPr>
            <a:spLocks noGrp="1"/>
          </p:cNvSpPr>
          <p:nvPr>
            <p:ph type="pic" sz="quarter" idx="13" hasCustomPrompt="1"/>
          </p:nvPr>
        </p:nvSpPr>
        <p:spPr>
          <a:xfrm>
            <a:off x="0" y="0"/>
            <a:ext cx="12192000" cy="6858000"/>
          </a:xfrm>
        </p:spPr>
        <p:txBody>
          <a:bodyPr/>
          <a:lstStyle>
            <a:lvl1pPr marL="0" indent="0" algn="ctr">
              <a:buNone/>
              <a:defRPr sz="2000"/>
            </a:lvl1pPr>
          </a:lstStyle>
          <a:p>
            <a:r>
              <a:rPr lang="en-US" dirty="0"/>
              <a:t>Click icon to insert picture</a:t>
            </a:r>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376680"/>
            <a:ext cx="9144000" cy="2286000"/>
          </a:xfrm>
        </p:spPr>
        <p:txBody>
          <a:bodyPr anchor="b">
            <a:noAutofit/>
          </a:bodyPr>
          <a:lstStyle>
            <a:lvl1pPr algn="ctr">
              <a:defRPr sz="54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799840"/>
            <a:ext cx="9144000" cy="2286000"/>
          </a:xfrm>
        </p:spPr>
        <p:txBody>
          <a:bodyPr>
            <a:no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12728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889110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dirty="0"/>
              <a:t>Click icon to add picture</a:t>
            </a:r>
          </a:p>
        </p:txBody>
      </p:sp>
      <p:grpSp>
        <p:nvGrpSpPr>
          <p:cNvPr id="4" name="Group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reeform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2852208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550863" y="550801"/>
            <a:ext cx="11090275" cy="1237360"/>
          </a:xfrm>
        </p:spPr>
        <p:txBody>
          <a:bodyPr anchor="t" anchorCtr="0">
            <a:noAutofit/>
          </a:bodyPr>
          <a:lstStyle>
            <a:lvl1pP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53720" y="1917065"/>
            <a:ext cx="2921000" cy="4297680"/>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048759" y="1917065"/>
            <a:ext cx="7591799" cy="4297680"/>
          </a:xfrm>
        </p:spPr>
        <p:txBody>
          <a:bodyPr>
            <a:normAutofit/>
          </a:bodyPr>
          <a:lstStyle>
            <a:lvl1pPr>
              <a:defRPr sz="2000">
                <a:solidFill>
                  <a:schemeClr val="tx1"/>
                </a:solidFill>
              </a:defRPr>
            </a:lvl1pPr>
          </a:lstStyle>
          <a:p>
            <a:r>
              <a:rPr lang="en-US" dirty="0"/>
              <a:t>Click icon to insert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236318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a:normAutofit/>
          </a:bodyPr>
          <a:lstStyle>
            <a:lvl1pPr>
              <a:lnSpc>
                <a:spcPct val="100000"/>
              </a:lnSpc>
              <a:defRPr sz="4000"/>
            </a:lvl1pPr>
          </a:lstStyle>
          <a:p>
            <a:r>
              <a:rPr lang="en-US" dirty="0"/>
              <a:t>Click to add title</a:t>
            </a:r>
          </a:p>
        </p:txBody>
      </p:sp>
      <p:grpSp>
        <p:nvGrpSpPr>
          <p:cNvPr id="11" name="Group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reeform: Shape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Oval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Freeform: Shape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595073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50863" y="560961"/>
            <a:ext cx="11090275" cy="1186560"/>
          </a:xfrm>
        </p:spPr>
        <p:txBody>
          <a:bodyPr anchor="t" anchorCtr="0">
            <a:noAutofit/>
          </a:bodyPr>
          <a:lstStyle>
            <a:lvl1pPr>
              <a:defRPr sz="4000"/>
            </a:lvl1p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Content Placeholder 2">
            <a:extLst>
              <a:ext uri="{FF2B5EF4-FFF2-40B4-BE49-F238E27FC236}">
                <a16:creationId xmlns:a16="http://schemas.microsoft.com/office/drawing/2014/main" id="{2AC28186-3489-427F-79D0-B78444023624}"/>
              </a:ext>
            </a:extLst>
          </p:cNvPr>
          <p:cNvSpPr>
            <a:spLocks noGrp="1"/>
          </p:cNvSpPr>
          <p:nvPr>
            <p:ph sz="half" idx="1" hasCustomPrompt="1"/>
          </p:nvPr>
        </p:nvSpPr>
        <p:spPr>
          <a:xfrm>
            <a:off x="550861" y="1917064"/>
            <a:ext cx="11090275" cy="4297679"/>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4655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743832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05295584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6914388" y="2382009"/>
            <a:ext cx="5355962" cy="1140713"/>
          </a:xfrm>
          <a:noFill/>
        </p:spPr>
        <p:txBody>
          <a:bodyPr anchor="ctr">
            <a:noAutofit/>
          </a:bodyPr>
          <a:lstStyle/>
          <a:p>
            <a:r>
              <a:rPr lang="en-US" sz="2800">
                <a:latin typeface="HGPMinchoE"/>
                <a:ea typeface="HGPMinchoE"/>
                <a:cs typeface="Arial"/>
              </a:rPr>
              <a:t>AI Essay Detector and Humanizer</a:t>
            </a:r>
            <a:endParaRPr lang="en-US">
              <a:latin typeface="HGPMinchoE"/>
              <a:ea typeface="HGPMinchoE"/>
              <a:cs typeface="Arial"/>
            </a:endParaRPr>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a:xfrm>
            <a:off x="0" y="0"/>
            <a:ext cx="6828282" cy="6858000"/>
          </a:xfrm>
        </p:spPr>
      </p:pic>
      <p:sp>
        <p:nvSpPr>
          <p:cNvPr id="2" name="TextBox 1">
            <a:extLst>
              <a:ext uri="{FF2B5EF4-FFF2-40B4-BE49-F238E27FC236}">
                <a16:creationId xmlns:a16="http://schemas.microsoft.com/office/drawing/2014/main" id="{D82D0D29-4DD7-73C5-CCBB-9BE9FF1ADE1D}"/>
              </a:ext>
            </a:extLst>
          </p:cNvPr>
          <p:cNvSpPr txBox="1"/>
          <p:nvPr/>
        </p:nvSpPr>
        <p:spPr>
          <a:xfrm>
            <a:off x="7194526" y="3289554"/>
            <a:ext cx="45780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tx1">
                    <a:lumMod val="85000"/>
                  </a:schemeClr>
                </a:solidFill>
                <a:latin typeface="Arial"/>
                <a:cs typeface="Arial"/>
              </a:rPr>
              <a:t>By: Nidhish Shah, Junfeng Li, Cole Smolinski, Stephen </a:t>
            </a:r>
            <a:r>
              <a:rPr lang="en-US" sz="1200" dirty="0" err="1">
                <a:solidFill>
                  <a:schemeClr val="tx1">
                    <a:lumMod val="85000"/>
                  </a:schemeClr>
                </a:solidFill>
                <a:latin typeface="Arial"/>
                <a:cs typeface="Arial"/>
              </a:rPr>
              <a:t>Hannawi</a:t>
            </a:r>
            <a:endParaRPr lang="en-US">
              <a:solidFill>
                <a:schemeClr val="tx1">
                  <a:lumMod val="85000"/>
                </a:schemeClr>
              </a:solidFill>
              <a:latin typeface="Gill Sans MT"/>
              <a:cs typeface="Arial"/>
            </a:endParaRPr>
          </a:p>
        </p:txBody>
      </p:sp>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288735" y="4240162"/>
            <a:ext cx="11115355" cy="2066544"/>
          </a:xfrm>
          <a:noFill/>
        </p:spPr>
        <p:txBody>
          <a:bodyPr anchor="ctr"/>
          <a:lstStyle/>
          <a:p>
            <a:r>
              <a:rPr lang="en-US" sz="2000" dirty="0">
                <a:solidFill>
                  <a:schemeClr val="tx1">
                    <a:lumMod val="85000"/>
                  </a:schemeClr>
                </a:solidFill>
                <a:ea typeface="+mj-lt"/>
                <a:cs typeface="+mj-lt"/>
              </a:rPr>
              <a:t>With the rapid advancement of AI writing tools such as ChatGPT, Google Gemini, and Claude, it has become increasingly difficult to distinguish between human-written and AI-generated content in academic writing. By the same token, there are many benefits to using AI that allows you to flesh out your ideas, but the answers given to you feel homogenous and sound and feel like it was given to you by a robot.</a:t>
            </a:r>
          </a:p>
          <a:p>
            <a:endParaRPr lang="en-US" sz="2000" dirty="0">
              <a:solidFill>
                <a:schemeClr val="tx1">
                  <a:lumMod val="85000"/>
                </a:schemeClr>
              </a:solidFill>
              <a:latin typeface="Times New Roman"/>
              <a:cs typeface="Times New Roman"/>
            </a:endParaRPr>
          </a:p>
        </p:txBody>
      </p:sp>
      <p:pic>
        <p:nvPicPr>
          <p:cNvPr id="11" name="Picture Placeholder 15" descr="Data points digital background">
            <a:extLst>
              <a:ext uri="{FF2B5EF4-FFF2-40B4-BE49-F238E27FC236}">
                <a16:creationId xmlns:a16="http://schemas.microsoft.com/office/drawing/2014/main" id="{A496DCE5-C34A-22C2-A9D8-E90DFC8CE86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a:xfrm>
            <a:off x="0" y="-1502"/>
            <a:ext cx="12192000" cy="2918438"/>
          </a:xfrm>
        </p:spPr>
      </p:pic>
      <p:sp>
        <p:nvSpPr>
          <p:cNvPr id="2" name="TextBox 1">
            <a:extLst>
              <a:ext uri="{FF2B5EF4-FFF2-40B4-BE49-F238E27FC236}">
                <a16:creationId xmlns:a16="http://schemas.microsoft.com/office/drawing/2014/main" id="{944D9A85-CF5C-F0C9-5DA1-27AF771CEA1D}"/>
              </a:ext>
            </a:extLst>
          </p:cNvPr>
          <p:cNvSpPr txBox="1"/>
          <p:nvPr/>
        </p:nvSpPr>
        <p:spPr>
          <a:xfrm>
            <a:off x="291361" y="3158139"/>
            <a:ext cx="482193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FFFFFF"/>
                </a:solidFill>
                <a:latin typeface="Walbaum Display"/>
                <a:ea typeface="+mn-lt"/>
                <a:cs typeface="+mn-lt"/>
              </a:rPr>
              <a:t>Problem Statement</a:t>
            </a:r>
            <a:endParaRPr lang="en-US" b="1">
              <a:latin typeface="Walbaum Display"/>
            </a:endParaRPr>
          </a:p>
          <a:p>
            <a:endParaRPr lang="en-US" sz="3200" b="1" dirty="0">
              <a:latin typeface="Walbaum Display"/>
              <a:cs typeface="Times New Roman"/>
            </a:endParaRPr>
          </a:p>
        </p:txBody>
      </p:sp>
    </p:spTree>
    <p:extLst>
      <p:ext uri="{BB962C8B-B14F-4D97-AF65-F5344CB8AC3E}">
        <p14:creationId xmlns:p14="http://schemas.microsoft.com/office/powerpoint/2010/main" val="1839748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06B59-80B8-CEED-0BCA-BC3F80A85FEA}"/>
              </a:ext>
              <a:ext uri="{C183D7F6-B498-43B3-948B-1728B52AA6E4}">
                <adec:decorative xmlns:adec="http://schemas.microsoft.com/office/drawing/2017/decorative" val="1"/>
              </a:ext>
            </a:extLst>
          </p:cNvPr>
          <p:cNvGrpSpPr/>
          <p:nvPr/>
        </p:nvGrpSpPr>
        <p:grpSpPr>
          <a:xfrm>
            <a:off x="4803321" y="682622"/>
            <a:ext cx="734257" cy="760506"/>
            <a:chOff x="5243759" y="1363788"/>
            <a:chExt cx="734257" cy="760506"/>
          </a:xfrm>
        </p:grpSpPr>
        <p:sp>
          <p:nvSpPr>
            <p:cNvPr id="6" name="Freeform 5">
              <a:extLst>
                <a:ext uri="{FF2B5EF4-FFF2-40B4-BE49-F238E27FC236}">
                  <a16:creationId xmlns:a16="http://schemas.microsoft.com/office/drawing/2014/main" id="{73C2F317-81E4-3678-2FF2-495B3A95470A}"/>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A7C6D33A-37B7-D2C4-2C1C-6D5253D0D480}"/>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18145A95-72C3-9BFC-32D2-908F235E389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98638" y="684580"/>
            <a:ext cx="3442684" cy="703858"/>
          </a:xfrm>
          <a:noFill/>
        </p:spPr>
        <p:txBody>
          <a:bodyPr anchor="b"/>
          <a:lstStyle/>
          <a:p>
            <a:r>
              <a:rPr lang="en-US" sz="3600" b="1"/>
              <a:t>Our Solution</a:t>
            </a:r>
            <a:endParaRPr lang="en-US" sz="3600" b="1" dirty="0"/>
          </a:p>
        </p:txBody>
      </p:sp>
      <p:pic>
        <p:nvPicPr>
          <p:cNvPr id="20" name="Picture Placeholder 19" descr="A close-up of a graph">
            <a:extLst>
              <a:ext uri="{FF2B5EF4-FFF2-40B4-BE49-F238E27FC236}">
                <a16:creationId xmlns:a16="http://schemas.microsoft.com/office/drawing/2014/main" id="{A7019768-5E2A-F9D1-62D6-EC7C5F0BBEC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 r="9"/>
          <a:stretch/>
        </p:blipFill>
        <p:spPr/>
      </p:pic>
      <p:sp>
        <p:nvSpPr>
          <p:cNvPr id="9" name="Oval 8">
            <a:extLst>
              <a:ext uri="{FF2B5EF4-FFF2-40B4-BE49-F238E27FC236}">
                <a16:creationId xmlns:a16="http://schemas.microsoft.com/office/drawing/2014/main" id="{5C4A7DC2-42C3-FDDF-02BF-9598D75A6A83}"/>
              </a:ext>
              <a:ext uri="{C183D7F6-B498-43B3-948B-1728B52AA6E4}">
                <adec:decorative xmlns:adec="http://schemas.microsoft.com/office/drawing/2017/decorative" val="1"/>
              </a:ext>
            </a:extLst>
          </p:cNvPr>
          <p:cNvSpPr>
            <a:spLocks noChangeAspect="1"/>
          </p:cNvSpPr>
          <p:nvPr/>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TextBox 9">
            <a:extLst>
              <a:ext uri="{FF2B5EF4-FFF2-40B4-BE49-F238E27FC236}">
                <a16:creationId xmlns:a16="http://schemas.microsoft.com/office/drawing/2014/main" id="{89E1BFD4-9E79-24F7-56EF-956DB03F878E}"/>
              </a:ext>
            </a:extLst>
          </p:cNvPr>
          <p:cNvSpPr txBox="1"/>
          <p:nvPr/>
        </p:nvSpPr>
        <p:spPr>
          <a:xfrm>
            <a:off x="199117" y="2005708"/>
            <a:ext cx="6077712"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1">
                    <a:lumMod val="85000"/>
                  </a:schemeClr>
                </a:solidFill>
                <a:latin typeface="Times New Roman"/>
                <a:ea typeface="+mn-lt"/>
                <a:cs typeface="Times New Roman"/>
              </a:rPr>
              <a:t>Our solution was to create a web app that combines the ability to detect AI written content, but then also to have it be able to “Humanize” what was written by the AI by changing the wording to sound more natural.</a:t>
            </a:r>
            <a:endParaRPr lang="en-US">
              <a:solidFill>
                <a:schemeClr val="tx1">
                  <a:lumMod val="85000"/>
                </a:schemeClr>
              </a:solidFill>
              <a:latin typeface="Times New Roman"/>
              <a:cs typeface="Times New Roman"/>
            </a:endParaRPr>
          </a:p>
          <a:p>
            <a:r>
              <a:rPr lang="en-US">
                <a:solidFill>
                  <a:schemeClr val="tx1">
                    <a:lumMod val="85000"/>
                  </a:schemeClr>
                </a:solidFill>
                <a:latin typeface="Times New Roman"/>
                <a:ea typeface="+mn-lt"/>
                <a:cs typeface="Times New Roman"/>
              </a:rPr>
              <a:t>We set out with a few goals in mind:</a:t>
            </a:r>
            <a:endParaRPr lang="en-US">
              <a:solidFill>
                <a:schemeClr val="tx1">
                  <a:lumMod val="85000"/>
                </a:schemeClr>
              </a:solidFill>
              <a:latin typeface="Times New Roman"/>
              <a:cs typeface="Times New Roman"/>
            </a:endParaRPr>
          </a:p>
          <a:p>
            <a:pPr marL="285750" indent="-285750">
              <a:buFont typeface="Arial"/>
              <a:buChar char="•"/>
            </a:pPr>
            <a:r>
              <a:rPr lang="en-US">
                <a:solidFill>
                  <a:schemeClr val="tx1">
                    <a:lumMod val="85000"/>
                  </a:schemeClr>
                </a:solidFill>
                <a:latin typeface="Times New Roman"/>
                <a:ea typeface="+mn-lt"/>
                <a:cs typeface="Times New Roman"/>
              </a:rPr>
              <a:t>Build a functional full-stack AI-powered web application</a:t>
            </a:r>
            <a:endParaRPr lang="en-US">
              <a:solidFill>
                <a:schemeClr val="tx1">
                  <a:lumMod val="85000"/>
                </a:schemeClr>
              </a:solidFill>
              <a:latin typeface="Times New Roman"/>
              <a:cs typeface="Times New Roman"/>
            </a:endParaRPr>
          </a:p>
          <a:p>
            <a:pPr marL="285750" indent="-285750">
              <a:buFont typeface="Arial"/>
              <a:buChar char="•"/>
            </a:pPr>
            <a:r>
              <a:rPr lang="en-US">
                <a:solidFill>
                  <a:schemeClr val="tx1">
                    <a:lumMod val="85000"/>
                  </a:schemeClr>
                </a:solidFill>
                <a:latin typeface="Times New Roman"/>
                <a:ea typeface="+mn-lt"/>
                <a:cs typeface="Times New Roman"/>
              </a:rPr>
              <a:t>Provide measurable AI detection results</a:t>
            </a:r>
            <a:endParaRPr lang="en-US">
              <a:solidFill>
                <a:schemeClr val="tx1">
                  <a:lumMod val="85000"/>
                </a:schemeClr>
              </a:solidFill>
              <a:latin typeface="Times New Roman"/>
              <a:cs typeface="Times New Roman"/>
            </a:endParaRPr>
          </a:p>
          <a:p>
            <a:pPr marL="285750" indent="-285750">
              <a:buFont typeface="Arial"/>
              <a:buChar char="•"/>
            </a:pPr>
            <a:r>
              <a:rPr lang="en-US">
                <a:solidFill>
                  <a:schemeClr val="tx1">
                    <a:lumMod val="85000"/>
                  </a:schemeClr>
                </a:solidFill>
                <a:latin typeface="Times New Roman"/>
                <a:ea typeface="+mn-lt"/>
                <a:cs typeface="Times New Roman"/>
              </a:rPr>
              <a:t>Implement meaningful text transformation while preserving semantic content</a:t>
            </a:r>
            <a:endParaRPr lang="en-US">
              <a:solidFill>
                <a:schemeClr val="tx1">
                  <a:lumMod val="85000"/>
                </a:schemeClr>
              </a:solidFill>
              <a:latin typeface="Times New Roman"/>
              <a:cs typeface="Times New Roman"/>
            </a:endParaRPr>
          </a:p>
          <a:p>
            <a:pPr marL="285750" indent="-285750">
              <a:buFont typeface="Arial"/>
              <a:buChar char="•"/>
            </a:pPr>
            <a:r>
              <a:rPr lang="en-US">
                <a:solidFill>
                  <a:schemeClr val="tx1">
                    <a:lumMod val="85000"/>
                  </a:schemeClr>
                </a:solidFill>
                <a:latin typeface="Times New Roman"/>
                <a:ea typeface="+mn-lt"/>
                <a:cs typeface="Times New Roman"/>
              </a:rPr>
              <a:t>Evaluate system performance using real test data</a:t>
            </a:r>
            <a:endParaRPr lang="en-US" sz="2000">
              <a:solidFill>
                <a:schemeClr val="tx1">
                  <a:lumMod val="85000"/>
                </a:schemeClr>
              </a:solidFill>
              <a:latin typeface="Times New Roman"/>
              <a:cs typeface="Times New Roman"/>
            </a:endParaRPr>
          </a:p>
          <a:p>
            <a:br>
              <a:rPr lang="en-US" dirty="0"/>
            </a:br>
            <a:endParaRPr lang="en-US" sz="2000">
              <a:solidFill>
                <a:schemeClr val="tx1">
                  <a:lumMod val="85000"/>
                </a:schemeClr>
              </a:solidFill>
              <a:latin typeface="Times New Roman"/>
              <a:cs typeface="Times New Roman"/>
            </a:endParaRPr>
          </a:p>
        </p:txBody>
      </p:sp>
    </p:spTree>
    <p:extLst>
      <p:ext uri="{BB962C8B-B14F-4D97-AF65-F5344CB8AC3E}">
        <p14:creationId xmlns:p14="http://schemas.microsoft.com/office/powerpoint/2010/main" val="41452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a:xfrm>
            <a:off x="697166" y="516762"/>
            <a:ext cx="4814885" cy="706505"/>
          </a:xfrm>
        </p:spPr>
        <p:txBody>
          <a:bodyPr>
            <a:normAutofit/>
          </a:bodyPr>
          <a:lstStyle/>
          <a:p>
            <a:r>
              <a:rPr lang="en-US" b="1">
                <a:ea typeface="+mj-lt"/>
                <a:cs typeface="+mj-lt"/>
              </a:rPr>
              <a:t>Related Work</a:t>
            </a:r>
            <a:endParaRPr lang="en-US" b="1"/>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a:xfrm>
            <a:off x="697167" y="1548303"/>
            <a:ext cx="8173780" cy="3979625"/>
          </a:xfrm>
        </p:spPr>
        <p:txBody>
          <a:bodyPr vert="horz" wrap="square" lIns="0" tIns="0" rIns="0" bIns="0" rtlCol="0" anchor="t">
            <a:normAutofit fontScale="92500" lnSpcReduction="20000"/>
          </a:bodyPr>
          <a:lstStyle/>
          <a:p>
            <a:pPr indent="0">
              <a:buNone/>
            </a:pPr>
            <a:r>
              <a:rPr lang="en-US">
                <a:solidFill>
                  <a:schemeClr val="tx1">
                    <a:lumMod val="85000"/>
                  </a:schemeClr>
                </a:solidFill>
                <a:latin typeface="Times New Roman"/>
                <a:ea typeface="+mn-lt"/>
                <a:cs typeface="Times New Roman"/>
              </a:rPr>
              <a:t>We used several tools and research efforts to explore about AI text detection and humanization:</a:t>
            </a:r>
            <a:endParaRPr lang="en-US">
              <a:solidFill>
                <a:schemeClr val="tx1">
                  <a:lumMod val="85000"/>
                </a:schemeClr>
              </a:solidFill>
              <a:latin typeface="Times New Roman"/>
              <a:cs typeface="Times New Roman"/>
            </a:endParaRPr>
          </a:p>
          <a:p>
            <a:pPr indent="0">
              <a:buNone/>
            </a:pPr>
            <a:r>
              <a:rPr lang="en-US" dirty="0">
                <a:solidFill>
                  <a:schemeClr val="tx1">
                    <a:lumMod val="85000"/>
                  </a:schemeClr>
                </a:solidFill>
                <a:latin typeface="Times New Roman"/>
                <a:ea typeface="+mn-lt"/>
                <a:cs typeface="Times New Roman"/>
              </a:rPr>
              <a:t>The </a:t>
            </a:r>
            <a:r>
              <a:rPr lang="en-US" dirty="0" err="1">
                <a:solidFill>
                  <a:schemeClr val="tx1">
                    <a:lumMod val="85000"/>
                  </a:schemeClr>
                </a:solidFill>
                <a:latin typeface="Times New Roman"/>
                <a:ea typeface="+mn-lt"/>
                <a:cs typeface="Times New Roman"/>
              </a:rPr>
              <a:t>GPTZero</a:t>
            </a:r>
            <a:r>
              <a:rPr lang="en-US" dirty="0">
                <a:solidFill>
                  <a:schemeClr val="tx1">
                    <a:lumMod val="85000"/>
                  </a:schemeClr>
                </a:solidFill>
                <a:latin typeface="Times New Roman"/>
                <a:ea typeface="+mn-lt"/>
                <a:cs typeface="Times New Roman"/>
              </a:rPr>
              <a:t> tool , which relies on measuring burstiness and perplexity, was one of the first free online tools capable of identifying whether a text was written by humans or produced through AI. Analogously, Sapling AI offers an online detection API which calculates the probability of AI-based writing.</a:t>
            </a:r>
          </a:p>
          <a:p>
            <a:pPr>
              <a:buNone/>
            </a:pPr>
            <a:r>
              <a:rPr lang="en-US" dirty="0">
                <a:solidFill>
                  <a:schemeClr val="tx1">
                    <a:lumMod val="85000"/>
                  </a:schemeClr>
                </a:solidFill>
                <a:latin typeface="Times New Roman"/>
                <a:ea typeface="+mn-lt"/>
                <a:cs typeface="Times New Roman"/>
              </a:rPr>
              <a:t>    Regarding humanization, there has been research in paraphrasing techniques with models like T5 and PEGASUS for rewriting text while retaining its meaning. The newer models like GPT-4 and </a:t>
            </a:r>
            <a:r>
              <a:rPr lang="en-US" dirty="0" err="1">
                <a:solidFill>
                  <a:schemeClr val="tx1">
                    <a:lumMod val="85000"/>
                  </a:schemeClr>
                </a:solidFill>
                <a:latin typeface="Times New Roman"/>
                <a:ea typeface="+mn-lt"/>
                <a:cs typeface="Times New Roman"/>
              </a:rPr>
              <a:t>LLaMA</a:t>
            </a:r>
            <a:r>
              <a:rPr lang="en-US" dirty="0">
                <a:solidFill>
                  <a:schemeClr val="tx1">
                    <a:lumMod val="85000"/>
                  </a:schemeClr>
                </a:solidFill>
                <a:latin typeface="Times New Roman"/>
                <a:ea typeface="+mn-lt"/>
                <a:cs typeface="Times New Roman"/>
              </a:rPr>
              <a:t> have also proven their abilities in style transfer and text rewriting. </a:t>
            </a:r>
            <a:endParaRPr lang="en-US">
              <a:solidFill>
                <a:schemeClr val="tx1">
                  <a:lumMod val="85000"/>
                </a:schemeClr>
              </a:solidFill>
              <a:latin typeface="Times New Roman"/>
              <a:cs typeface="Times New Roman"/>
            </a:endParaRPr>
          </a:p>
          <a:p>
            <a:pPr marL="0" indent="0">
              <a:buNone/>
            </a:pPr>
            <a:r>
              <a:rPr lang="en-US" dirty="0">
                <a:solidFill>
                  <a:schemeClr val="tx1">
                    <a:lumMod val="85000"/>
                  </a:schemeClr>
                </a:solidFill>
                <a:latin typeface="Times New Roman"/>
                <a:ea typeface="+mn-lt"/>
                <a:cs typeface="Times New Roman"/>
              </a:rPr>
              <a:t>Our project stands apart from other existing works in multiple aspects. Our approach is not confined to detection or rewriting but rather encompasses both processes in an integrated </a:t>
            </a:r>
            <a:r>
              <a:rPr lang="en-US">
                <a:solidFill>
                  <a:schemeClr val="tx1">
                    <a:lumMod val="85000"/>
                  </a:schemeClr>
                </a:solidFill>
                <a:latin typeface="Times New Roman"/>
                <a:ea typeface="+mn-lt"/>
                <a:cs typeface="Times New Roman"/>
              </a:rPr>
              <a:t>web application. Also, our work provides a quantifiable measure of the text alteration post-</a:t>
            </a:r>
            <a:r>
              <a:rPr lang="en-US" dirty="0">
                <a:solidFill>
                  <a:schemeClr val="tx1">
                    <a:lumMod val="85000"/>
                  </a:schemeClr>
                </a:solidFill>
                <a:latin typeface="Times New Roman"/>
                <a:ea typeface="+mn-lt"/>
                <a:cs typeface="Times New Roman"/>
              </a:rPr>
              <a:t>humanization through cosine similarity, which is not available in other existing works.</a:t>
            </a:r>
          </a:p>
        </p:txBody>
      </p:sp>
    </p:spTree>
    <p:extLst>
      <p:ext uri="{BB962C8B-B14F-4D97-AF65-F5344CB8AC3E}">
        <p14:creationId xmlns:p14="http://schemas.microsoft.com/office/powerpoint/2010/main" val="652841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a:xfrm>
            <a:off x="4681705" y="288056"/>
            <a:ext cx="2701590" cy="790579"/>
          </a:xfrm>
        </p:spPr>
        <p:txBody>
          <a:bodyPr/>
          <a:lstStyle/>
          <a:p>
            <a:r>
              <a:rPr lang="en-US" b="1"/>
              <a:t>Methods</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1854284" y="1502280"/>
            <a:ext cx="8356599" cy="4924755"/>
          </a:xfrm>
        </p:spPr>
        <p:txBody>
          <a:bodyPr vert="horz" wrap="square" lIns="0" tIns="0" rIns="0" bIns="0" rtlCol="0" anchor="t">
            <a:noAutofit/>
          </a:bodyPr>
          <a:lstStyle/>
          <a:p>
            <a:r>
              <a:rPr lang="en-US" sz="1600">
                <a:solidFill>
                  <a:schemeClr val="tx1">
                    <a:lumMod val="85000"/>
                  </a:schemeClr>
                </a:solidFill>
                <a:latin typeface="Times New Roman"/>
                <a:cs typeface="Times New Roman"/>
              </a:rPr>
              <a:t>The system provides two core features:</a:t>
            </a:r>
            <a:endParaRPr lang="en-US" sz="1600" dirty="0">
              <a:solidFill>
                <a:schemeClr val="tx1">
                  <a:lumMod val="85000"/>
                </a:schemeClr>
              </a:solidFill>
              <a:latin typeface="Times New Roman"/>
              <a:cs typeface="Times New Roman"/>
            </a:endParaRPr>
          </a:p>
          <a:p>
            <a:r>
              <a:rPr lang="en-US" sz="1600">
                <a:solidFill>
                  <a:schemeClr val="tx1">
                    <a:lumMod val="85000"/>
                  </a:schemeClr>
                </a:solidFill>
                <a:latin typeface="Times New Roman"/>
                <a:cs typeface="Times New Roman"/>
              </a:rPr>
              <a:t>1. AI Detection</a:t>
            </a:r>
            <a:endParaRPr lang="en-US" sz="1600" dirty="0">
              <a:solidFill>
                <a:schemeClr val="tx1">
                  <a:lumMod val="85000"/>
                </a:schemeClr>
              </a:solidFill>
              <a:latin typeface="Times New Roman"/>
              <a:cs typeface="Times New Roman"/>
            </a:endParaRPr>
          </a:p>
          <a:p>
            <a:pPr marL="285750" indent="-285750">
              <a:buFont typeface="Arial"/>
              <a:buChar char="•"/>
            </a:pPr>
            <a:r>
              <a:rPr lang="en-US" sz="1600">
                <a:solidFill>
                  <a:schemeClr val="tx1">
                    <a:lumMod val="85000"/>
                  </a:schemeClr>
                </a:solidFill>
                <a:latin typeface="Times New Roman"/>
                <a:cs typeface="Times New Roman"/>
              </a:rPr>
              <a:t>Users paste an essay into the application</a:t>
            </a:r>
            <a:endParaRPr lang="en-US" sz="1600" dirty="0">
              <a:solidFill>
                <a:schemeClr val="tx1">
                  <a:lumMod val="85000"/>
                </a:schemeClr>
              </a:solidFill>
              <a:latin typeface="Times New Roman"/>
              <a:cs typeface="Times New Roman"/>
            </a:endParaRPr>
          </a:p>
          <a:p>
            <a:pPr marL="285750" indent="-285750">
              <a:buFont typeface="Arial"/>
              <a:buChar char="•"/>
            </a:pPr>
            <a:r>
              <a:rPr lang="en-US" sz="1600">
                <a:solidFill>
                  <a:schemeClr val="tx1">
                    <a:lumMod val="85000"/>
                  </a:schemeClr>
                </a:solidFill>
                <a:latin typeface="Times New Roman"/>
                <a:cs typeface="Times New Roman"/>
              </a:rPr>
              <a:t>The text is analyzed using the Sapling AI Detection API</a:t>
            </a:r>
            <a:endParaRPr lang="en-US" sz="1600" dirty="0">
              <a:solidFill>
                <a:schemeClr val="tx1">
                  <a:lumMod val="85000"/>
                </a:schemeClr>
              </a:solidFill>
              <a:latin typeface="Times New Roman"/>
              <a:cs typeface="Times New Roman"/>
            </a:endParaRPr>
          </a:p>
          <a:p>
            <a:pPr marL="285750" indent="-285750">
              <a:buFont typeface="Arial"/>
              <a:buChar char="•"/>
            </a:pPr>
            <a:r>
              <a:rPr lang="en-US" sz="1600" dirty="0">
                <a:solidFill>
                  <a:schemeClr val="tx1">
                    <a:lumMod val="85000"/>
                  </a:schemeClr>
                </a:solidFill>
                <a:latin typeface="Times New Roman"/>
                <a:cs typeface="Times New Roman"/>
              </a:rPr>
              <a:t>The system returns a score (0–100%) indicating the likelihood that the text is AI-generated</a:t>
            </a:r>
          </a:p>
          <a:p>
            <a:r>
              <a:rPr lang="en-US" sz="1600">
                <a:solidFill>
                  <a:schemeClr val="tx1">
                    <a:lumMod val="85000"/>
                  </a:schemeClr>
                </a:solidFill>
                <a:latin typeface="Times New Roman"/>
                <a:cs typeface="Times New Roman"/>
              </a:rPr>
              <a:t>2. Humanization (Humanizer)</a:t>
            </a:r>
            <a:endParaRPr lang="en-US" sz="1600" dirty="0">
              <a:solidFill>
                <a:schemeClr val="tx1">
                  <a:lumMod val="85000"/>
                </a:schemeClr>
              </a:solidFill>
              <a:latin typeface="Times New Roman"/>
              <a:cs typeface="Times New Roman"/>
            </a:endParaRPr>
          </a:p>
          <a:p>
            <a:pPr marL="285750" indent="-285750">
              <a:buFont typeface="Arial"/>
              <a:buChar char="•"/>
            </a:pPr>
            <a:r>
              <a:rPr lang="en-US" sz="1600" dirty="0">
                <a:solidFill>
                  <a:schemeClr val="tx1">
                    <a:lumMod val="85000"/>
                  </a:schemeClr>
                </a:solidFill>
                <a:latin typeface="Times New Roman"/>
                <a:cs typeface="Times New Roman"/>
              </a:rPr>
              <a:t>The essay is sent to the </a:t>
            </a:r>
            <a:r>
              <a:rPr lang="en-US" sz="1600" dirty="0" err="1">
                <a:solidFill>
                  <a:schemeClr val="tx1">
                    <a:lumMod val="85000"/>
                  </a:schemeClr>
                </a:solidFill>
                <a:latin typeface="Times New Roman"/>
                <a:cs typeface="Times New Roman"/>
              </a:rPr>
              <a:t>Groq</a:t>
            </a:r>
            <a:r>
              <a:rPr lang="en-US" sz="1600" dirty="0">
                <a:solidFill>
                  <a:schemeClr val="tx1">
                    <a:lumMod val="85000"/>
                  </a:schemeClr>
                </a:solidFill>
                <a:latin typeface="Times New Roman"/>
                <a:cs typeface="Times New Roman"/>
              </a:rPr>
              <a:t> </a:t>
            </a:r>
            <a:r>
              <a:rPr lang="en-US" sz="1600" dirty="0" err="1">
                <a:solidFill>
                  <a:schemeClr val="tx1">
                    <a:lumMod val="85000"/>
                  </a:schemeClr>
                </a:solidFill>
                <a:latin typeface="Times New Roman"/>
                <a:cs typeface="Times New Roman"/>
              </a:rPr>
              <a:t>LLaMA</a:t>
            </a:r>
            <a:r>
              <a:rPr lang="en-US" sz="1600" dirty="0">
                <a:solidFill>
                  <a:schemeClr val="tx1">
                    <a:lumMod val="85000"/>
                  </a:schemeClr>
                </a:solidFill>
                <a:latin typeface="Times New Roman"/>
                <a:cs typeface="Times New Roman"/>
              </a:rPr>
              <a:t> 3.3 70B model</a:t>
            </a:r>
          </a:p>
          <a:p>
            <a:pPr marL="285750" indent="-285750">
              <a:buFont typeface="Arial"/>
              <a:buChar char="•"/>
            </a:pPr>
            <a:r>
              <a:rPr lang="en-US" sz="1600">
                <a:solidFill>
                  <a:schemeClr val="tx1">
                    <a:lumMod val="85000"/>
                  </a:schemeClr>
                </a:solidFill>
                <a:latin typeface="Times New Roman"/>
                <a:cs typeface="Times New Roman"/>
              </a:rPr>
              <a:t>The essay is rewritten to sound more natural and human-like while preserving the original meaning</a:t>
            </a:r>
            <a:endParaRPr lang="en-US" sz="1600" dirty="0">
              <a:solidFill>
                <a:schemeClr val="tx1">
                  <a:lumMod val="85000"/>
                </a:schemeClr>
              </a:solidFill>
              <a:latin typeface="Times New Roman"/>
              <a:cs typeface="Times New Roman"/>
            </a:endParaRPr>
          </a:p>
          <a:p>
            <a:pPr marL="285750" indent="-285750">
              <a:buFont typeface="Arial"/>
              <a:buChar char="•"/>
            </a:pPr>
            <a:r>
              <a:rPr lang="en-US" sz="1600">
                <a:solidFill>
                  <a:schemeClr val="tx1">
                    <a:lumMod val="85000"/>
                  </a:schemeClr>
                </a:solidFill>
                <a:latin typeface="Times New Roman"/>
                <a:cs typeface="Times New Roman"/>
              </a:rPr>
              <a:t>A rewriting analysis shows how much the wording changed compared to the original</a:t>
            </a:r>
            <a:endParaRPr lang="en-US" sz="1600" dirty="0">
              <a:solidFill>
                <a:schemeClr val="tx1">
                  <a:lumMod val="85000"/>
                </a:schemeClr>
              </a:solidFill>
              <a:latin typeface="Times New Roman"/>
              <a:cs typeface="Times New Roman"/>
            </a:endParaRPr>
          </a:p>
          <a:p>
            <a:endParaRPr lang="en-US" sz="1600" dirty="0">
              <a:solidFill>
                <a:schemeClr val="tx1">
                  <a:lumMod val="85000"/>
                </a:schemeClr>
              </a:solidFill>
              <a:latin typeface="Times New Roman"/>
              <a:cs typeface="Times New Roman"/>
            </a:endParaRPr>
          </a:p>
        </p:txBody>
      </p:sp>
      <p:sp>
        <p:nvSpPr>
          <p:cNvPr id="4" name="Oval 3">
            <a:extLst>
              <a:ext uri="{FF2B5EF4-FFF2-40B4-BE49-F238E27FC236}">
                <a16:creationId xmlns:a16="http://schemas.microsoft.com/office/drawing/2014/main" id="{10AE9CF1-3C33-7B95-1F6B-1639893E579F}"/>
              </a:ext>
              <a:ext uri="{C183D7F6-B498-43B3-948B-1728B52AA6E4}">
                <adec:decorative xmlns:adec="http://schemas.microsoft.com/office/drawing/2017/decorative" val="1"/>
              </a:ext>
            </a:extLst>
          </p:cNvPr>
          <p:cNvSpPr>
            <a:spLocks noChangeAspect="1"/>
          </p:cNvSpPr>
          <p:nvPr/>
        </p:nvSpPr>
        <p:spPr>
          <a:xfrm>
            <a:off x="10213062" y="199747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Oval 7">
            <a:extLst>
              <a:ext uri="{FF2B5EF4-FFF2-40B4-BE49-F238E27FC236}">
                <a16:creationId xmlns:a16="http://schemas.microsoft.com/office/drawing/2014/main" id="{FD4766AE-695F-8D66-7D4A-EC23FDF9F77E}"/>
              </a:ext>
              <a:ext uri="{C183D7F6-B498-43B3-948B-1728B52AA6E4}">
                <adec:decorative xmlns:adec="http://schemas.microsoft.com/office/drawing/2017/decorative" val="1"/>
              </a:ext>
            </a:extLst>
          </p:cNvPr>
          <p:cNvSpPr>
            <a:spLocks noChangeAspect="1"/>
          </p:cNvSpPr>
          <p:nvPr/>
        </p:nvSpPr>
        <p:spPr>
          <a:xfrm>
            <a:off x="313747" y="373208"/>
            <a:ext cx="618790" cy="61879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Oval 9">
            <a:extLst>
              <a:ext uri="{FF2B5EF4-FFF2-40B4-BE49-F238E27FC236}">
                <a16:creationId xmlns:a16="http://schemas.microsoft.com/office/drawing/2014/main" id="{B3BB9A70-4794-F805-F9A2-542CA2D7D8E8}"/>
              </a:ext>
              <a:ext uri="{C183D7F6-B498-43B3-948B-1728B52AA6E4}">
                <adec:decorative xmlns:adec="http://schemas.microsoft.com/office/drawing/2017/decorative" val="1"/>
              </a:ext>
            </a:extLst>
          </p:cNvPr>
          <p:cNvSpPr>
            <a:spLocks noChangeAspect="1"/>
          </p:cNvSpPr>
          <p:nvPr/>
        </p:nvSpPr>
        <p:spPr>
          <a:xfrm>
            <a:off x="11028536" y="6161734"/>
            <a:ext cx="525211" cy="531895"/>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233018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Oval 15">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8" name="Group 17">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20" name="Freeform: Shape 19">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Oval 23">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30" name="Rectangle 29">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a:xfrm>
            <a:off x="898442" y="555959"/>
            <a:ext cx="6879409" cy="1004937"/>
          </a:xfrm>
        </p:spPr>
        <p:txBody>
          <a:bodyPr vert="horz" wrap="square" lIns="0" tIns="0" rIns="0" bIns="0" rtlCol="0" anchor="ctr" anchorCtr="0">
            <a:normAutofit/>
          </a:bodyPr>
          <a:lstStyle/>
          <a:p>
            <a:pPr>
              <a:lnSpc>
                <a:spcPct val="90000"/>
              </a:lnSpc>
            </a:pPr>
            <a:r>
              <a:rPr lang="en-US" sz="3400" b="1"/>
              <a:t>Results and Demonstration</a:t>
            </a:r>
          </a:p>
          <a:p>
            <a:pPr>
              <a:lnSpc>
                <a:spcPct val="90000"/>
              </a:lnSpc>
            </a:pPr>
            <a:endParaRPr lang="en-US" sz="3400" b="1"/>
          </a:p>
        </p:txBody>
      </p:sp>
      <p:sp>
        <p:nvSpPr>
          <p:cNvPr id="32" name="Rectangle 31">
            <a:extLst>
              <a:ext uri="{FF2B5EF4-FFF2-40B4-BE49-F238E27FC236}">
                <a16:creationId xmlns:a16="http://schemas.microsoft.com/office/drawing/2014/main" id="{8D43D8E9-B1AB-4D81-9F4E-04AA5C5AC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83435"/>
            <a:ext cx="12192000" cy="4774565"/>
          </a:xfrm>
          <a:prstGeom prst="rect">
            <a:avLst/>
          </a:prstGeom>
          <a:solidFill>
            <a:schemeClr val="bg2">
              <a:lumMod val="25000"/>
              <a:lumOff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ECC0BED-F03F-40D6-96CE-80CAE6666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557F9AE5-4C9C-5240-83D5-40C3725924EC}"/>
              </a:ext>
            </a:extLst>
          </p:cNvPr>
          <p:cNvPicPr>
            <a:picLocks noChangeAspect="1"/>
          </p:cNvPicPr>
          <p:nvPr/>
        </p:nvPicPr>
        <p:blipFill>
          <a:blip r:embed="rId2"/>
          <a:stretch>
            <a:fillRect/>
          </a:stretch>
        </p:blipFill>
        <p:spPr>
          <a:xfrm>
            <a:off x="5826243" y="2331919"/>
            <a:ext cx="6038929" cy="4264224"/>
          </a:xfrm>
          <a:custGeom>
            <a:avLst/>
            <a:gdLst/>
            <a:ahLst/>
            <a:cxnLst/>
            <a:rect l="l" t="t" r="r" b="b"/>
            <a:pathLst>
              <a:path w="6922273" h="4225290">
                <a:moveTo>
                  <a:pt x="0" y="0"/>
                </a:moveTo>
                <a:lnTo>
                  <a:pt x="6922273" y="0"/>
                </a:lnTo>
                <a:lnTo>
                  <a:pt x="6922273" y="4225290"/>
                </a:lnTo>
                <a:lnTo>
                  <a:pt x="0" y="4225290"/>
                </a:lnTo>
                <a:close/>
              </a:path>
            </a:pathLst>
          </a:custGeom>
        </p:spPr>
      </p:pic>
      <p:pic>
        <p:nvPicPr>
          <p:cNvPr id="2" name="Content Placeholder 1" descr="A screenshot of a computer&#10;&#10;AI-generated content may be incorrect.">
            <a:extLst>
              <a:ext uri="{FF2B5EF4-FFF2-40B4-BE49-F238E27FC236}">
                <a16:creationId xmlns:a16="http://schemas.microsoft.com/office/drawing/2014/main" id="{092E15CE-5465-7E1B-7728-989734983EE9}"/>
              </a:ext>
            </a:extLst>
          </p:cNvPr>
          <p:cNvPicPr>
            <a:picLocks noGrp="1" noChangeAspect="1"/>
          </p:cNvPicPr>
          <p:nvPr>
            <p:ph sz="half" idx="1"/>
          </p:nvPr>
        </p:nvPicPr>
        <p:blipFill>
          <a:blip r:embed="rId3"/>
          <a:stretch>
            <a:fillRect/>
          </a:stretch>
        </p:blipFill>
        <p:spPr>
          <a:xfrm>
            <a:off x="322681" y="2334157"/>
            <a:ext cx="5280211" cy="4268671"/>
          </a:xfrm>
          <a:custGeom>
            <a:avLst/>
            <a:gdLst/>
            <a:ahLst/>
            <a:cxnLst/>
            <a:rect l="l" t="t" r="r" b="b"/>
            <a:pathLst>
              <a:path w="6922273" h="4225290">
                <a:moveTo>
                  <a:pt x="0" y="0"/>
                </a:moveTo>
                <a:lnTo>
                  <a:pt x="6922273" y="0"/>
                </a:lnTo>
                <a:lnTo>
                  <a:pt x="6922273" y="4225290"/>
                </a:lnTo>
                <a:lnTo>
                  <a:pt x="0" y="4225290"/>
                </a:lnTo>
                <a:close/>
              </a:path>
            </a:pathLst>
          </a:custGeom>
        </p:spPr>
      </p:pic>
      <p:sp>
        <p:nvSpPr>
          <p:cNvPr id="33" name="Rectangle 32">
            <a:extLst>
              <a:ext uri="{FF2B5EF4-FFF2-40B4-BE49-F238E27FC236}">
                <a16:creationId xmlns:a16="http://schemas.microsoft.com/office/drawing/2014/main" id="{5337EA23-6703-4C96-9EEB-A408CBDD6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3026607-1514-322A-AAE1-912E04F15BA8}"/>
              </a:ext>
              <a:ext uri="{C183D7F6-B498-43B3-948B-1728B52AA6E4}">
                <adec:decorative xmlns:adec="http://schemas.microsoft.com/office/drawing/2017/decorative" val="1"/>
              </a:ext>
            </a:extLst>
          </p:cNvPr>
          <p:cNvSpPr>
            <a:spLocks noChangeAspect="1"/>
          </p:cNvSpPr>
          <p:nvPr/>
        </p:nvSpPr>
        <p:spPr>
          <a:xfrm>
            <a:off x="9487643" y="283883"/>
            <a:ext cx="1267158" cy="1280526"/>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35346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BEE09-77BD-FDD6-984D-219D152F3FE4}"/>
              </a:ext>
            </a:extLst>
          </p:cNvPr>
          <p:cNvSpPr>
            <a:spLocks noGrp="1"/>
          </p:cNvSpPr>
          <p:nvPr>
            <p:ph type="title"/>
          </p:nvPr>
        </p:nvSpPr>
        <p:spPr>
          <a:xfrm>
            <a:off x="550862" y="498474"/>
            <a:ext cx="9263842" cy="1450217"/>
          </a:xfrm>
        </p:spPr>
        <p:txBody>
          <a:bodyPr/>
          <a:lstStyle/>
          <a:p>
            <a:r>
              <a:rPr lang="en-US" b="1">
                <a:ea typeface="+mj-lt"/>
                <a:cs typeface="+mj-lt"/>
              </a:rPr>
              <a:t>Broader Impact &amp; Future Work</a:t>
            </a:r>
            <a:endParaRPr lang="en-US" b="1"/>
          </a:p>
          <a:p>
            <a:endParaRPr lang="en-US" b="1"/>
          </a:p>
        </p:txBody>
      </p:sp>
      <p:sp>
        <p:nvSpPr>
          <p:cNvPr id="3" name="Content Placeholder 2">
            <a:extLst>
              <a:ext uri="{FF2B5EF4-FFF2-40B4-BE49-F238E27FC236}">
                <a16:creationId xmlns:a16="http://schemas.microsoft.com/office/drawing/2014/main" id="{55E99915-9225-F8AB-27BF-052C56F05066}"/>
              </a:ext>
            </a:extLst>
          </p:cNvPr>
          <p:cNvSpPr>
            <a:spLocks noGrp="1"/>
          </p:cNvSpPr>
          <p:nvPr>
            <p:ph idx="1"/>
          </p:nvPr>
        </p:nvSpPr>
        <p:spPr>
          <a:xfrm>
            <a:off x="547921" y="1830931"/>
            <a:ext cx="7929940" cy="3979625"/>
          </a:xfrm>
        </p:spPr>
        <p:txBody>
          <a:bodyPr vert="horz" wrap="square" lIns="0" tIns="0" rIns="0" bIns="0" rtlCol="0" anchor="t">
            <a:normAutofit fontScale="92500" lnSpcReduction="20000"/>
          </a:bodyPr>
          <a:lstStyle/>
          <a:p>
            <a:r>
              <a:rPr lang="en-US" dirty="0">
                <a:solidFill>
                  <a:schemeClr val="tx1">
                    <a:lumMod val="85000"/>
                  </a:schemeClr>
                </a:solidFill>
                <a:latin typeface="Times New Roman"/>
                <a:cs typeface="Times New Roman"/>
              </a:rPr>
              <a:t>Being able to detect the percentage of AI-written content in an essay is a useful tool for academic integrity and allowing others to find how much content was generated by AI. However, we also added the ability for this application to work backwards and paraphrase information to make the information in an essay sound more “human” in </a:t>
            </a:r>
            <a:r>
              <a:rPr lang="en-US" dirty="0" err="1">
                <a:solidFill>
                  <a:schemeClr val="tx1">
                    <a:lumMod val="85000"/>
                  </a:schemeClr>
                </a:solidFill>
                <a:latin typeface="Times New Roman"/>
                <a:cs typeface="Times New Roman"/>
              </a:rPr>
              <a:t>it’s</a:t>
            </a:r>
            <a:r>
              <a:rPr lang="en-US" dirty="0">
                <a:solidFill>
                  <a:schemeClr val="tx1">
                    <a:lumMod val="85000"/>
                  </a:schemeClr>
                </a:solidFill>
                <a:latin typeface="Times New Roman"/>
                <a:cs typeface="Times New Roman"/>
              </a:rPr>
              <a:t> way of speaking. This could allow for an AI to take an essay and explain it in more natural language without the loss of the important information in the essay.</a:t>
            </a:r>
          </a:p>
          <a:p>
            <a:r>
              <a:rPr lang="en-US">
                <a:solidFill>
                  <a:schemeClr val="tx1">
                    <a:lumMod val="85000"/>
                  </a:schemeClr>
                </a:solidFill>
                <a:latin typeface="Times New Roman"/>
                <a:cs typeface="Times New Roman"/>
              </a:rPr>
              <a:t>Future work is to Integrate a more powerful detection model trained on paraphrased content, Add sentence-level highlighting to show which parts of the text are most AI-like, Support file uploads for .txt and .pdf documents, Deploy the application online for broader accessibility and Expand the evaluation dataset to 500+ essays for more statistically significant results</a:t>
            </a:r>
            <a:endParaRPr lang="en-US" dirty="0">
              <a:solidFill>
                <a:schemeClr val="tx1">
                  <a:lumMod val="85000"/>
                </a:schemeClr>
              </a:solidFill>
              <a:latin typeface="Times New Roman"/>
              <a:cs typeface="Times New Roman"/>
            </a:endParaRPr>
          </a:p>
          <a:p>
            <a:br>
              <a:rPr lang="en-US" dirty="0"/>
            </a:br>
            <a:br>
              <a:rPr lang="en-US" dirty="0"/>
            </a:br>
            <a:endParaRPr lang="en-US" dirty="0">
              <a:solidFill>
                <a:schemeClr val="tx1">
                  <a:lumMod val="85000"/>
                </a:schemeClr>
              </a:solidFill>
              <a:latin typeface="Times New Roman"/>
              <a:cs typeface="Times New Roman"/>
            </a:endParaRPr>
          </a:p>
        </p:txBody>
      </p:sp>
    </p:spTree>
    <p:extLst>
      <p:ext uri="{BB962C8B-B14F-4D97-AF65-F5344CB8AC3E}">
        <p14:creationId xmlns:p14="http://schemas.microsoft.com/office/powerpoint/2010/main" val="244436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31" name="Freeform: Shape 30">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Oval 31">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Freeform: Shape 33">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36" name="Rectangle 35">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550863" y="235116"/>
            <a:ext cx="3672471" cy="1155645"/>
          </a:xfrm>
        </p:spPr>
        <p:txBody>
          <a:bodyPr vert="horz" wrap="square" lIns="0" tIns="0" rIns="0" bIns="0" rtlCol="0" anchor="b" anchorCtr="0">
            <a:normAutofit/>
          </a:bodyPr>
          <a:lstStyle/>
          <a:p>
            <a:pPr>
              <a:lnSpc>
                <a:spcPct val="100000"/>
              </a:lnSpc>
            </a:pPr>
            <a:r>
              <a:rPr lang="en-US" sz="4400" b="1" kern="1200" dirty="0">
                <a:solidFill>
                  <a:schemeClr val="tx1"/>
                </a:solidFill>
                <a:latin typeface="+mj-lt"/>
                <a:ea typeface="+mj-ea"/>
                <a:cs typeface="+mj-cs"/>
              </a:rPr>
              <a:t>Conclusion</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377073" y="2036716"/>
            <a:ext cx="4026735" cy="3414425"/>
          </a:xfrm>
        </p:spPr>
        <p:txBody>
          <a:bodyPr vert="horz" wrap="square" lIns="0" tIns="0" rIns="0" bIns="0" rtlCol="0" anchor="t">
            <a:normAutofit/>
          </a:bodyPr>
          <a:lstStyle/>
          <a:p>
            <a:pPr>
              <a:lnSpc>
                <a:spcPct val="100000"/>
              </a:lnSpc>
            </a:pPr>
            <a:r>
              <a:rPr lang="en-US" sz="1200" dirty="0">
                <a:solidFill>
                  <a:schemeClr val="tx1">
                    <a:lumMod val="85000"/>
                  </a:schemeClr>
                </a:solidFill>
                <a:latin typeface="Times New Roman"/>
                <a:cs typeface="Times New Roman"/>
              </a:rPr>
              <a:t>For this project we successfully developed a web application that combines AI text detection and humanization into a single interactive tool. The detection module was able to reach 90% accuracy when run on an unlabeled dataset from the real world. The humanization module, based on the </a:t>
            </a:r>
            <a:r>
              <a:rPr lang="en-US" sz="1200" dirty="0" err="1">
                <a:solidFill>
                  <a:schemeClr val="tx1">
                    <a:lumMod val="85000"/>
                  </a:schemeClr>
                </a:solidFill>
                <a:latin typeface="Times New Roman"/>
                <a:cs typeface="Times New Roman"/>
              </a:rPr>
              <a:t>Groq</a:t>
            </a:r>
            <a:r>
              <a:rPr lang="en-US" sz="1200" dirty="0">
                <a:solidFill>
                  <a:schemeClr val="tx1">
                    <a:lumMod val="85000"/>
                  </a:schemeClr>
                </a:solidFill>
                <a:latin typeface="Times New Roman"/>
                <a:cs typeface="Times New Roman"/>
              </a:rPr>
              <a:t> </a:t>
            </a:r>
            <a:r>
              <a:rPr lang="en-US" sz="1200" dirty="0" err="1">
                <a:solidFill>
                  <a:schemeClr val="tx1">
                    <a:lumMod val="85000"/>
                  </a:schemeClr>
                </a:solidFill>
                <a:latin typeface="Times New Roman"/>
                <a:cs typeface="Times New Roman"/>
              </a:rPr>
              <a:t>LLaMA</a:t>
            </a:r>
            <a:r>
              <a:rPr lang="en-US" sz="1200" dirty="0">
                <a:solidFill>
                  <a:schemeClr val="tx1">
                    <a:lumMod val="85000"/>
                  </a:schemeClr>
                </a:solidFill>
                <a:latin typeface="Times New Roman"/>
                <a:cs typeface="Times New Roman"/>
              </a:rPr>
              <a:t> 3.3 70B model, was capable of rewriting texts in a more natural way with the number of modified words ranging between 65-75% per test sample.</a:t>
            </a:r>
          </a:p>
          <a:p>
            <a:pPr>
              <a:lnSpc>
                <a:spcPct val="100000"/>
              </a:lnSpc>
            </a:pPr>
            <a:r>
              <a:rPr lang="en-US" sz="1200" dirty="0">
                <a:solidFill>
                  <a:schemeClr val="tx1">
                    <a:lumMod val="85000"/>
                  </a:schemeClr>
                </a:solidFill>
                <a:latin typeface="Times New Roman"/>
                <a:cs typeface="Times New Roman"/>
              </a:rPr>
              <a:t>Limitation: The primary drawback is that the Sapling detector always detected AI-generated text as such, which indicates that existing humanization methods are inadequate for fooling advanced detectors. Another limitation is that there are rate restrictions when using Sapling’s free version.</a:t>
            </a:r>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r="-2" b="12266"/>
          <a:stretch>
            <a:fillRect/>
          </a:stretch>
        </p:blipFill>
        <p:spPr>
          <a:xfrm>
            <a:off x="4550899" y="10"/>
            <a:ext cx="7641102" cy="6857990"/>
          </a:xfrm>
          <a:custGeom>
            <a:avLst/>
            <a:gdLst/>
            <a:ahLst/>
            <a:cxnLst/>
            <a:rect l="l" t="t" r="r" b="b"/>
            <a:pathLst>
              <a:path w="7641102" h="6858000">
                <a:moveTo>
                  <a:pt x="0" y="0"/>
                </a:moveTo>
                <a:lnTo>
                  <a:pt x="7641102" y="0"/>
                </a:lnTo>
                <a:lnTo>
                  <a:pt x="7641102" y="6858000"/>
                </a:lnTo>
                <a:lnTo>
                  <a:pt x="0" y="6858000"/>
                </a:lnTo>
                <a:close/>
              </a:path>
            </a:pathLst>
          </a:custGeom>
        </p:spPr>
      </p:pic>
      <p:sp>
        <p:nvSpPr>
          <p:cNvPr id="38" name="Rectangle 37">
            <a:extLst>
              <a:ext uri="{FF2B5EF4-FFF2-40B4-BE49-F238E27FC236}">
                <a16:creationId xmlns:a16="http://schemas.microsoft.com/office/drawing/2014/main" id="{6FF3A87B-2255-45E0-A551-C11FAF932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8" y="5773729"/>
            <a:ext cx="7641102"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7630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Oval 38">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1" name="Oval 40">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3" name="Group 42">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4" name="Freeform: Shape 43">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7" name="Oval 46">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49" name="Rectangle 48">
            <a:extLst>
              <a:ext uri="{FF2B5EF4-FFF2-40B4-BE49-F238E27FC236}">
                <a16:creationId xmlns:a16="http://schemas.microsoft.com/office/drawing/2014/main" id="{1997061E-3447-40AF-B361-EE5D7E386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64EBE-2D04-C368-1481-41C416F21C63}"/>
              </a:ext>
            </a:extLst>
          </p:cNvPr>
          <p:cNvSpPr>
            <a:spLocks noGrp="1"/>
          </p:cNvSpPr>
          <p:nvPr>
            <p:ph type="title"/>
          </p:nvPr>
        </p:nvSpPr>
        <p:spPr>
          <a:xfrm>
            <a:off x="5267325" y="549275"/>
            <a:ext cx="6373812" cy="3777421"/>
          </a:xfrm>
        </p:spPr>
        <p:txBody>
          <a:bodyPr vert="horz" wrap="square" lIns="0" tIns="0" rIns="0" bIns="0" rtlCol="0" anchor="b" anchorCtr="0">
            <a:normAutofit/>
          </a:bodyPr>
          <a:lstStyle/>
          <a:p>
            <a:pPr>
              <a:lnSpc>
                <a:spcPct val="100000"/>
              </a:lnSpc>
            </a:pPr>
            <a:r>
              <a:rPr lang="en-US" sz="8000" b="1"/>
              <a:t>Thank you!</a:t>
            </a:r>
          </a:p>
        </p:txBody>
      </p:sp>
      <p:grpSp>
        <p:nvGrpSpPr>
          <p:cNvPr id="51" name="Group 50">
            <a:extLst>
              <a:ext uri="{FF2B5EF4-FFF2-40B4-BE49-F238E27FC236}">
                <a16:creationId xmlns:a16="http://schemas.microsoft.com/office/drawing/2014/main" id="{29852CF9-0BB2-4896-8B33-ADF9E59B49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6718" y="856763"/>
            <a:ext cx="1468514" cy="1521012"/>
            <a:chOff x="5236793" y="2432482"/>
            <a:chExt cx="1468514" cy="1521012"/>
          </a:xfrm>
        </p:grpSpPr>
        <p:sp>
          <p:nvSpPr>
            <p:cNvPr id="52" name="Freeform 5">
              <a:extLst>
                <a:ext uri="{FF2B5EF4-FFF2-40B4-BE49-F238E27FC236}">
                  <a16:creationId xmlns:a16="http://schemas.microsoft.com/office/drawing/2014/main" id="{E79CA92F-265C-4597-89CB-329767328B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D9A45552-B7CA-4E93-939E-352BEBA71A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8D7B6E7F-9785-434F-B05B-E972A1773D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Oval 55">
            <a:extLst>
              <a:ext uri="{FF2B5EF4-FFF2-40B4-BE49-F238E27FC236}">
                <a16:creationId xmlns:a16="http://schemas.microsoft.com/office/drawing/2014/main" id="{9659A3D4-9896-4F11-9112-6C5E0390C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5746" y="1659500"/>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8" name="Group 57">
            <a:extLst>
              <a:ext uri="{FF2B5EF4-FFF2-40B4-BE49-F238E27FC236}">
                <a16:creationId xmlns:a16="http://schemas.microsoft.com/office/drawing/2014/main" id="{50D25812-D4C9-48D5-8E64-65C4BB4218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0176" y="3037220"/>
            <a:ext cx="3960000" cy="2696065"/>
            <a:chOff x="3433290" y="8649159"/>
            <a:chExt cx="3960000" cy="2696065"/>
          </a:xfrm>
        </p:grpSpPr>
        <p:sp>
          <p:nvSpPr>
            <p:cNvPr id="59" name="Freeform: Shape 58">
              <a:extLst>
                <a:ext uri="{FF2B5EF4-FFF2-40B4-BE49-F238E27FC236}">
                  <a16:creationId xmlns:a16="http://schemas.microsoft.com/office/drawing/2014/main" id="{3F0EA802-54E3-4D3B-9253-112BE1342D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3685353" y="9468714"/>
              <a:ext cx="3707937" cy="1853969"/>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reeform: Shape 59">
              <a:extLst>
                <a:ext uri="{FF2B5EF4-FFF2-40B4-BE49-F238E27FC236}">
                  <a16:creationId xmlns:a16="http://schemas.microsoft.com/office/drawing/2014/main" id="{57BBC533-5FA8-430D-837D-70DD9EC007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3565739" y="9180381"/>
              <a:ext cx="3707937" cy="216484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F56FEF69-54B2-43E1-84AA-F79860841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3792781" y="10251719"/>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2" name="Oval 61">
              <a:extLst>
                <a:ext uri="{FF2B5EF4-FFF2-40B4-BE49-F238E27FC236}">
                  <a16:creationId xmlns:a16="http://schemas.microsoft.com/office/drawing/2014/main" id="{598519AB-CAAE-4D25-8B45-03A802C87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754832" y="8289668"/>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060273463"/>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3DFloatVTI</Template>
  <TotalTime>0</TotalTime>
  <Words>416</Words>
  <Application>Microsoft Office PowerPoint</Application>
  <PresentationFormat>Widescreen</PresentationFormat>
  <Paragraphs>117</Paragraphs>
  <Slides>9</Slides>
  <Notes>4</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3DFloatVTI</vt:lpstr>
      <vt:lpstr>AI Essay Detector and Humanizer</vt:lpstr>
      <vt:lpstr>With the rapid advancement of AI writing tools such as ChatGPT, Google Gemini, and Claude, it has become increasingly difficult to distinguish between human-written and AI-generated content in academic writing. By the same token, there are many benefits to using AI that allows you to flesh out your ideas, but the answers given to you feel homogenous and sound and feel like it was given to you by a robot. </vt:lpstr>
      <vt:lpstr>Our Solution</vt:lpstr>
      <vt:lpstr>Related Work</vt:lpstr>
      <vt:lpstr>Methods</vt:lpstr>
      <vt:lpstr>Results and Demonstration </vt:lpstr>
      <vt:lpstr>Broader Impact &amp; Future Work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358</cp:revision>
  <dcterms:created xsi:type="dcterms:W3CDTF">2026-04-08T16:46:00Z</dcterms:created>
  <dcterms:modified xsi:type="dcterms:W3CDTF">2026-04-08T18:58:23Z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